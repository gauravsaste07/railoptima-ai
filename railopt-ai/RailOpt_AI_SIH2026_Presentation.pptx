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7315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1E5AA0"/>
                </a:solidFill>
              </a:defRPr>
            </a:pPr>
            <a:r>
              <a:t>SIH 2026</a:t>
            </a:r>
            <a:br/>
            <a:r>
              <a:t>Ministry of Railways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6583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6217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Problem Statement ID: </a:t>
            </a:r>
            <a:r>
              <a:rPr sz="1300">
                <a:solidFill>
                  <a:srgbClr val="1E293B"/>
                </a:solidFill>
              </a:rPr>
              <a:t>SIH26027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Problem Statement Title: </a:t>
            </a:r>
            <a:r>
              <a:rPr sz="1300">
                <a:solidFill>
                  <a:srgbClr val="1E293B"/>
                </a:solidFill>
              </a:rPr>
              <a:t>AI-Powered Automatic Block Planning To Maximize Asset Availability For Train Operations On Indian Railways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Theme: </a:t>
            </a:r>
            <a:r>
              <a:rPr sz="1300">
                <a:solidFill>
                  <a:srgbClr val="1E293B"/>
                </a:solidFill>
              </a:rPr>
              <a:t>Transportation &amp; Logistics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PS Category: </a:t>
            </a:r>
            <a:r>
              <a:rPr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Team Name: </a:t>
            </a:r>
            <a:r>
              <a:rPr sz="1300">
                <a:solidFill>
                  <a:srgbClr val="1E293B"/>
                </a:solidFill>
              </a:rPr>
              <a:t>RailOptima (RailOpt AI)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Core Technologies: </a:t>
            </a:r>
            <a:r>
              <a:rPr sz="1300">
                <a:solidFill>
                  <a:srgbClr val="1E293B"/>
                </a:solidFill>
              </a:rPr>
              <a:t>FastAPI, React 19, XGBoost, Google OR-Tools CP-SAT, Supabase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3474720" cy="4114800"/>
          </a:xfrm>
          <a:prstGeom prst="roundRect">
            <a:avLst/>
          </a:prstGeom>
          <a:solidFill>
            <a:srgbClr val="EBF3FD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E5AA0"/>
                </a:solidFill>
              </a:defRPr>
            </a:pPr>
            <a:r>
              <a:t>RailOpt AI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Unified Multi-Department Scheduling (Track, S&amp;T, TRD)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3-Pillar Risk Engine: Criticality, Urgency &amp; Traffic Density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Google OR-Tools CP-SAT Shadow Block Co-Allocation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Section Controller Approval Room &amp; Digital TSR Clearance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t>RailOpt AI — Overview &amp;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@SIH Idea submission- Template  |  RailOpt AI  |  Page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20040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2C57"/>
                </a:solidFill>
              </a:defRPr>
            </a:pPr>
            <a:r>
              <a:t>MAINTENANCE TRAFFIC BLOCK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 planned, statutory pause in train movements allowing field gangs safe access to tracks, overhead catenary, and signaling.</a:t>
            </a:r>
          </a:p>
          <a:p>
            <a:pPr>
              <a:defRPr b="1" sz="850">
                <a:solidFill>
                  <a:srgbClr val="1E5AA0"/>
                </a:solidFill>
              </a:defRPr>
            </a:pPr>
            <a:r>
              <a:t>[ TRAINS RUN ] ➔ [ SHADOW BLOCK ] ➔ [ TSR / FIT CLEAR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200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2C57"/>
                </a:solidFill>
              </a:defRPr>
            </a:pPr>
            <a:r>
              <a:t>INNOVATION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Combines XGBoost predictive risk scoring across MoR's 3 statutory pillars with Google OR-Tools CP-SAT constraint optimization to bundle multi-department work into single 'Shadow Blocks', reducing corridor downtime by up to 35%.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3200400" cy="1737360"/>
          </a:xfrm>
          <a:prstGeom prst="roundRect">
            <a:avLst/>
          </a:prstGeom>
          <a:solidFill>
            <a:srgbClr val="EBF3FD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2C57"/>
                </a:solidFill>
              </a:defRPr>
            </a:pPr>
            <a:r>
              <a:t>PROBLEM ADDRESSAL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Unifies isolated departmental silos (TMS for Track, SMMS for Signals, TDMS for Traction) into a single decision support system. Eliminates manual calls, resolves schedule conflicts, and enforces human-in-the-loop Controller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474720" cy="237744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CURRENT OPERATIONAL PROBLEMS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Uncoordinated requests negotiated over telephone &amp; memos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Track, Signal &amp; Traction work in isolated legacy silos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High-risk defects delayed while routine tasks take line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Repetitive blocks on same track compound passenger delays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Manual timetable planning takes days with zero co-allocation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657600"/>
            <a:ext cx="3474720" cy="25603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956A"/>
                </a:solidFill>
              </a:defRPr>
            </a:pPr>
            <a:r>
              <a:t>OUR SOLUTION: RAILOPT AI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Centralized multi-department ingestion with NLP defect assist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XGBoost priority scoring based on Criticality, Urgency &amp; Density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Google OR-Tools CP-SAT constraint optimization in &lt;2s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'Shadow Block' co-allocation bundling multi-department works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Section Controller Approval Room with digital TSR memos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Live Gantt calendar tracking possession &amp; overrun in realtime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188720"/>
            <a:ext cx="3657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100">
                <a:solidFill>
                  <a:srgbClr val="102C57"/>
                </a:solidFill>
              </a:defRPr>
            </a:pPr>
            <a:r>
              <a:t>END-TO-END PROCESS FLOW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1. Role Auth: </a:t>
            </a:r>
            <a:r>
              <a:rPr sz="850">
                <a:solidFill>
                  <a:srgbClr val="1E293B"/>
                </a:solidFill>
              </a:rPr>
              <a:t>Controller or Dept Engineer login via Supabase RLS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2. Defect Ingestion: </a:t>
            </a:r>
            <a:r>
              <a:rPr sz="850">
                <a:solidFill>
                  <a:srgbClr val="1E293B"/>
                </a:solidFill>
              </a:rPr>
              <a:t>Field logging with NLP natural-language classification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3. Conflict Detection: </a:t>
            </a:r>
            <a:r>
              <a:rPr sz="850">
                <a:solidFill>
                  <a:srgbClr val="1E293B"/>
                </a:solidFill>
              </a:rPr>
              <a:t>Real-time spatial &amp; temporal overlap checking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4. ML Risk Scoring: </a:t>
            </a:r>
            <a:r>
              <a:rPr sz="850">
                <a:solidFill>
                  <a:srgbClr val="1E293B"/>
                </a:solidFill>
              </a:rPr>
              <a:t>XGBoost computes priority based on MoR's 3 pillars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5. CP-SAT Solver: </a:t>
            </a:r>
            <a:r>
              <a:rPr sz="850">
                <a:solidFill>
                  <a:srgbClr val="1E293B"/>
                </a:solidFill>
              </a:rPr>
              <a:t>OR-Tools solves timetable, headway &amp; safety buffer constraints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6. Shadow Bundling: </a:t>
            </a:r>
            <a:r>
              <a:rPr sz="850">
                <a:solidFill>
                  <a:srgbClr val="1E293B"/>
                </a:solidFill>
              </a:rPr>
              <a:t>Co-allocates Civil, Signal &amp; TRD work into shared slots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7. Controller Signoff: </a:t>
            </a:r>
            <a:r>
              <a:rPr sz="850">
                <a:solidFill>
                  <a:srgbClr val="1E293B"/>
                </a:solidFill>
              </a:rPr>
              <a:t>Executive approval room to Approve, Reschedule or Reject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8. Gantt Calendar: </a:t>
            </a:r>
            <a:r>
              <a:rPr sz="850">
                <a:solidFill>
                  <a:srgbClr val="1E293B"/>
                </a:solidFill>
              </a:rPr>
              <a:t>Live possession countdown with overrun alert timers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9. Track Fitness: </a:t>
            </a:r>
            <a:r>
              <a:rPr sz="850">
                <a:solidFill>
                  <a:srgbClr val="1E293B"/>
                </a:solidFill>
              </a:rPr>
              <a:t>Digital TSR clearance memo (Normal vs 30/45 km/h)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5AA0"/>
                </a:solidFill>
              </a:rPr>
              <a:t>• 10. Shift Reports: </a:t>
            </a:r>
            <a:r>
              <a:rPr sz="850">
                <a:solidFill>
                  <a:srgbClr val="1E293B"/>
                </a:solidFill>
              </a:rPr>
              <a:t>Audit trail &amp; exact PostgreSQL operational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@SIH Idea submission- Template  |  RailOpt AI  |  Page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200">
                <a:solidFill>
                  <a:srgbClr val="102C57"/>
                </a:solidFill>
              </a:defRPr>
            </a:pPr>
            <a:r>
              <a:t>PRODUCTION-READY TECH STACK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5AA0"/>
                </a:solidFill>
              </a:rPr>
              <a:t>• Frontend Application: </a:t>
            </a:r>
            <a:r>
              <a:rPr sz="950">
                <a:solidFill>
                  <a:srgbClr val="1E293B"/>
                </a:solidFill>
              </a:rPr>
              <a:t>React.js 19, Vite, Tailwind CSS (Clean Government Enterprise Theme), Lucide Icons, Material Symbols Outlined, Interactive Gantt Timeline.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5AA0"/>
                </a:solidFill>
              </a:rPr>
              <a:t>• Backend &amp; Microservices: </a:t>
            </a:r>
            <a:r>
              <a:rPr sz="950">
                <a:solidFill>
                  <a:srgbClr val="1E293B"/>
                </a:solidFill>
              </a:rPr>
              <a:t>Python 3.10+, FastAPI (Asynchronous ASGI Microservice), Uvicorn, Pydantic v2 strict telemetry data contracts.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5AA0"/>
                </a:solidFill>
              </a:rPr>
              <a:t>• AI / ML &amp; Optimization Core: </a:t>
            </a:r>
            <a:r>
              <a:rPr sz="950">
                <a:solidFill>
                  <a:srgbClr val="1E293B"/>
                </a:solidFill>
              </a:rPr>
              <a:t>XGBoost Regression/Classifier for 3-pillar risk prioritization; Google OR-Tools CP-SAT Solver for constraint satisfaction; Scikit-Learn, Pandas, NumPy, Joblib.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5AA0"/>
                </a:solidFill>
              </a:rPr>
              <a:t>• Database, Auth &amp; Realtime: </a:t>
            </a:r>
            <a:r>
              <a:rPr sz="950">
                <a:solidFill>
                  <a:srgbClr val="1E293B"/>
                </a:solidFill>
              </a:rPr>
              <a:t>Supabase (Cloud PostgreSQL), Row Level Security (RLS) isolating Controller vs Dept roles, JWT Auth, Realtime WebSockets for live status updates.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5AA0"/>
                </a:solidFill>
              </a:rPr>
              <a:t>• Interoperability &amp; Data Pipelines: </a:t>
            </a:r>
            <a:r>
              <a:rPr sz="950">
                <a:solidFill>
                  <a:srgbClr val="1E293B"/>
                </a:solidFill>
              </a:rPr>
              <a:t>RESTful OpenAPI/Swagger Endpoints (/score, /optimize, /classify-defect). Designed to ingest TMS, SMMS, TDMS &amp; COA data schemas.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5AA0"/>
                </a:solidFill>
              </a:rPr>
              <a:t>• DevOps &amp; Reliability: </a:t>
            </a:r>
            <a:r>
              <a:rPr sz="950">
                <a:solidFill>
                  <a:srgbClr val="1E293B"/>
                </a:solidFill>
              </a:rPr>
              <a:t>Docker, Docker Compose, Git / GitHub, Python Virtual Environment, 100% test-verified zero-crash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200">
                <a:solidFill>
                  <a:srgbClr val="102C57"/>
                </a:solidFill>
              </a:defRPr>
            </a:pPr>
            <a:r>
              <a:t>4-TIER OPERATIONAL ARCHITECTURE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5AA0"/>
                </a:solidFill>
              </a:rPr>
              <a:t>Tier 1: Operations Console (React 19 + Vite)
</a:t>
            </a:r>
            <a:r>
              <a:rPr sz="850">
                <a:solidFill>
                  <a:srgbClr val="1E293B"/>
                </a:solidFill>
              </a:rPr>
              <a:t>• Field Engineer Portal: NLP-assisted defect logging (TMS/SMMS/TDMS)
• Section Controller Room: One-click signoff with confidence telemetry
• Block Calendar: Interactive Gantt with live possession countdown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5AA0"/>
                </a:solidFill>
              </a:rPr>
              <a:t>Tier 2: API &amp; Gateway Layer (FastAPI)
</a:t>
            </a:r>
            <a:r>
              <a:rPr sz="850">
                <a:solidFill>
                  <a:srgbClr val="1E293B"/>
                </a:solidFill>
              </a:rPr>
              <a:t>• /score &amp; /score-all: Rapid XGBoost priority scoring
• /optimize: OR-Tools solver dispatcher for weekly &amp; monthly horizons
• /classify-defect: NLP natural language parsing into official IR defect codes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5AA0"/>
                </a:solidFill>
              </a:rPr>
              <a:t>Tier 3: AI &amp; Mathematical Engine
</a:t>
            </a:r>
            <a:r>
              <a:rPr sz="850">
                <a:solidFill>
                  <a:srgbClr val="1E293B"/>
                </a:solidFill>
              </a:rPr>
              <a:t>• XGBoost 3-Pillar Priority Engine (Asset Stress, Overdue Days, Density)
• Google OR-Tools CP-SAT Solver enforcing daylight, buffer &amp; headway rules
• Shadow Block Co-Allocation Matrix bundling multi-dept works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5AA0"/>
                </a:solidFill>
              </a:rPr>
              <a:t>Tier 4: Enterprise Data Layer (Supabase PostgreSQL)
</a:t>
            </a:r>
            <a:r>
              <a:rPr sz="850">
                <a:solidFill>
                  <a:srgbClr val="1E293B"/>
                </a:solidFill>
              </a:rPr>
              <a:t>• Core Tables: maintenance_requests, blocks, departments, audit_log
• Role-Based Security: Section Controller clearance vs Department Engineers
• Immutable Audit Trail: Logging all Approvals, Reschedules &amp; Fitness Memos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t>Feasibility, Viability &amp;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@SIH Idea submission- Template  |  RailOpt AI  |  Page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084831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02C57"/>
                </a:solidFill>
              </a:defRPr>
            </a:pPr>
            <a:r>
              <a:t>Technical Feasibility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Built on proven algorithms (Google OR-Tools CP-SAT &amp; XGBoost) executing constraint optimization in &lt;2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79" y="1188720"/>
            <a:ext cx="2084831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02C57"/>
                </a:solidFill>
              </a:defRPr>
            </a:pPr>
            <a:r>
              <a:t>Economic Feasibility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Zero new track hardware needed. Pure software intelligence layer eliminating crores in uncoordinated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38" y="1188720"/>
            <a:ext cx="2084831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02C57"/>
                </a:solidFill>
              </a:defRPr>
            </a:pPr>
            <a:r>
              <a:t>User Viability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Clean Government Enterprise UI tailored for busy Controllers and field staff with high contrast and NLP shortcuts.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7" y="1188720"/>
            <a:ext cx="2084831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02C57"/>
                </a:solidFill>
              </a:defRPr>
            </a:pPr>
            <a:r>
              <a:t>Operational Feasibility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Enforces Human-in-the-Loop governance. AI recommends, but authorized Section Controller retains 100% signoff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56" y="1188720"/>
            <a:ext cx="2084831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02C57"/>
                </a:solidFill>
              </a:defRPr>
            </a:pPr>
            <a:r>
              <a:t>Scalability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Stateless microservice architecture scales seamlessly from a single division to all 68 Indian Railway divisions.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38328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327855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CHALLENGE / OPERATIONAL RISK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IMPACT ON RAILWAY OPERATIONS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 IN RAILOPT AI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Data Silos &amp; Field Gaps:</a:t>
                      </a:r>
                    </a:p>
                    <a:p>
                      <a:r>
                        <a:t>Incomplete defect reporting across TMS, SMMS &amp; TDMS.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Unreliable defect data leads to poor scheduling and overlooked track flaws.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Automated Pydantic validation, NLP field assist for natural reporting, and fallback stress estimation.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Cross-Department Conflicts:</a:t>
                      </a:r>
                    </a:p>
                    <a:p>
                      <a:r>
                        <a:t>Simultaneous requests on same track corridor.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Creates hazardous conditions, train stoppages, and wasted line capacity.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Real-time spatial-temporal overlap detector + OR-Tools CP-SAT bundling into unified 'Shadow Blocks'.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Window Overrun &amp; Line Clearance:</a:t>
                      </a:r>
                    </a:p>
                    <a:p>
                      <a:r>
                        <a:t>Field work exceeds approved time slot.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Cascading delays across scheduled passenger express &amp; freight rakes.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Live countdown possession timer + mandatory digital Track Fitness Certificate (Normal vs TSR Caution Order).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t>Impact, Operational Benefits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@SIH Idea submission- Template  |  RailOpt AI  |  Page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42032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050">
                <a:solidFill>
                  <a:srgbClr val="102C57"/>
                </a:solidFill>
              </a:defRPr>
            </a:pPr>
            <a:r>
              <a:t>USP &amp; CORE STRENGTHS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Shadow Block Co-Allocation:
</a:t>
            </a:r>
            <a:r>
              <a:rPr sz="850">
                <a:solidFill>
                  <a:srgbClr val="1E293B"/>
                </a:solidFill>
              </a:rPr>
              <a:t>Bundles Civil, Signal, and Electrical tasks into shared track closures, reducing total block count.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3-Pillar Priority Scoring:
</a:t>
            </a:r>
            <a:r>
              <a:rPr sz="850">
                <a:solidFill>
                  <a:srgbClr val="1E293B"/>
                </a:solidFill>
              </a:rPr>
              <a:t>XGBoost weights Asset Stress (45%), Overdue Days (35%), and Traffic Density (20%).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Human-in-the-Loop Signoff:
</a:t>
            </a:r>
            <a:r>
              <a:rPr sz="850">
                <a:solidFill>
                  <a:srgbClr val="1E293B"/>
                </a:solidFill>
              </a:rPr>
              <a:t>Executive approval room allows individual block signoff, reschedule, or rejection with confidence telemetry.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Closed-Loop Safety Fitness:
</a:t>
            </a:r>
            <a:r>
              <a:rPr sz="850">
                <a:solidFill>
                  <a:srgbClr val="1E293B"/>
                </a:solidFill>
              </a:rPr>
              <a:t>Mandatory Track Fitness Certificate (Normal vs TSR Caution Order) before restoring train signals.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188720"/>
            <a:ext cx="2542032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050">
                <a:solidFill>
                  <a:srgbClr val="1E5AA0"/>
                </a:solidFill>
              </a:defRPr>
            </a:pPr>
            <a:r>
              <a:t>OPERATIONAL IMPACT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Faster Turnaround:
</a:t>
            </a:r>
            <a:r>
              <a:rPr sz="850">
                <a:solidFill>
                  <a:srgbClr val="1E293B"/>
                </a:solidFill>
              </a:rPr>
              <a:t>Reduces cross-department block negotiations from days of calls to under 5 minutes.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Optimized Resource Use:
</a:t>
            </a:r>
            <a:r>
              <a:rPr sz="850">
                <a:solidFill>
                  <a:srgbClr val="1E293B"/>
                </a:solidFill>
              </a:rPr>
              <a:t>Enables specialized track machines (BCM, Tamping) to work concurrently with catenary maintenance.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Zero Miscommunication:
</a:t>
            </a:r>
            <a:r>
              <a:rPr sz="850">
                <a:solidFill>
                  <a:srgbClr val="1E293B"/>
                </a:solidFill>
              </a:rPr>
              <a:t>Replaces unverified verbal telephone clearances with an immutable PostgreSQL audit trail.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Division-Wide Visibility:
</a:t>
            </a:r>
            <a:r>
              <a:rPr sz="850">
                <a:solidFill>
                  <a:srgbClr val="1E293B"/>
                </a:solidFill>
              </a:rPr>
              <a:t>Centralized radar gives Section Controllers complete real-time awareness across all corridors.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188720"/>
            <a:ext cx="2542032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050">
                <a:solidFill>
                  <a:srgbClr val="10956A"/>
                </a:solidFill>
              </a:defRPr>
            </a:pPr>
            <a:r>
              <a:t>RAILWAY ASSET AVAILABILITY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Higher Track Availability:
</a:t>
            </a:r>
            <a:r>
              <a:rPr sz="850">
                <a:solidFill>
                  <a:srgbClr val="1E293B"/>
                </a:solidFill>
              </a:rPr>
              <a:t>Fewer independent traffic blocks keeps corridors open for passenger and freight rakes.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Proactive Asset Uptime:
</a:t>
            </a:r>
            <a:r>
              <a:rPr sz="850">
                <a:solidFill>
                  <a:srgbClr val="1E293B"/>
                </a:solidFill>
              </a:rPr>
              <a:t>Prioritizes overdue high-stress sections before micro-cracks turn into emergency rail fractures.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Reduced Cascading Delays:
</a:t>
            </a:r>
            <a:r>
              <a:rPr sz="850">
                <a:solidFill>
                  <a:srgbClr val="1E293B"/>
                </a:solidFill>
              </a:rPr>
              <a:t>Live possession timer alerts controllers before window overruns disrupt express trains.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Standardized Network Health:
</a:t>
            </a:r>
            <a:r>
              <a:rPr sz="850">
                <a:solidFill>
                  <a:srgbClr val="1E293B"/>
                </a:solidFill>
              </a:rPr>
              <a:t>Harmonizes track availability metrics across divisions and zonal railways.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188720"/>
            <a:ext cx="2542032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050">
                <a:solidFill>
                  <a:srgbClr val="D97706"/>
                </a:solidFill>
              </a:defRPr>
            </a:pPr>
            <a:r>
              <a:t>COST EFFICIENCY &amp; ROI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15–20% Lower Planning Costs:
</a:t>
            </a:r>
            <a:r>
              <a:rPr sz="850">
                <a:solidFill>
                  <a:srgbClr val="1E293B"/>
                </a:solidFill>
              </a:rPr>
              <a:t>Eliminates administrative coordination overhead and repetitive manual paperwork.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Up to 18% Lower Disruption Loss:
</a:t>
            </a:r>
            <a:r>
              <a:rPr sz="850">
                <a:solidFill>
                  <a:srgbClr val="1E293B"/>
                </a:solidFill>
              </a:rPr>
              <a:t>Fewer emergency track failures reduces punctuality penalty costs significantly.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Maximum ROI on Machinery:
</a:t>
            </a:r>
            <a:r>
              <a:rPr sz="850">
                <a:solidFill>
                  <a:srgbClr val="1E293B"/>
                </a:solidFill>
              </a:rPr>
              <a:t>Co-allocation ensures high-value track machines achieve higher utilization per possession.
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02C57"/>
                </a:solidFill>
              </a:rPr>
              <a:t>• Zero Hardware Capex:
</a:t>
            </a:r>
            <a:r>
              <a:rPr sz="850">
                <a:solidFill>
                  <a:srgbClr val="1E293B"/>
                </a:solidFill>
              </a:rPr>
              <a:t>Cloud/on-prem software solution integrating directly into existing CRIS &amp; FOIS architecture.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t>Research, Standards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@SIH Idea submission- Template  |  RailOpt AI  |  Page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400"/>
              </a:spcAft>
              <a:defRPr b="1" sz="1150">
                <a:solidFill>
                  <a:srgbClr val="102C57"/>
                </a:solidFill>
              </a:defRPr>
            </a:pPr>
            <a:r>
              <a:t>1. Machine Learning &amp; Predictive Maintenance Foundations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NASA / UCI AI4I Predictive Maintenance Dataset: </a:t>
            </a:r>
            <a:r>
              <a:rPr sz="900">
                <a:solidFill>
                  <a:srgbClr val="1E293B"/>
                </a:solidFill>
              </a:rPr>
              <a:t>Synthetic degradation telemetry and feature engineering for failure prediction: https://archive.ics.uci.edu/dataset/601/ai4i+2020+predictive+maintenance+dataset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Gradient Boosted Decision Trees (XGBoost): </a:t>
            </a:r>
            <a:r>
              <a:rPr sz="900">
                <a:solidFill>
                  <a:srgbClr val="1E293B"/>
                </a:solidFill>
              </a:rPr>
              <a:t>Chen, T., &amp; Guestrin, C. (2016). 'XGBoost: A Scalable Tree Boosting System' - Applied for non-linear railway asset risk ranking.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150">
                <a:solidFill>
                  <a:srgbClr val="102C57"/>
                </a:solidFill>
              </a:defRPr>
            </a:pPr>
            <a:r>
              <a:t>2. Operations Research &amp; Mathematical Constraint Optimization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Google OR-Tools CP-SAT Solver: </a:t>
            </a:r>
            <a:r>
              <a:rPr sz="900">
                <a:solidFill>
                  <a:srgbClr val="1E293B"/>
                </a:solidFill>
              </a:rPr>
              <a:t>Constraint Programming with Boolean Satisfiability technology for multi-commodity scheduling: https://developers.google.com/optimization/cp/cp_solver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Railway Corridor Capacity &amp; Headway Modeling: </a:t>
            </a:r>
            <a:r>
              <a:rPr sz="900">
                <a:solidFill>
                  <a:srgbClr val="1E293B"/>
                </a:solidFill>
              </a:rPr>
              <a:t>Resource-constrained job-shop formulations for conflict-free maintenance slot allocation around scheduled train paths.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150">
                <a:solidFill>
                  <a:srgbClr val="102C57"/>
                </a:solidFill>
              </a:defRPr>
            </a:pPr>
            <a:r>
              <a:t>3. Official Indian Railways Standards &amp; Statutory Operating Manuals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Indian Railways Permanent Way Manual (IRPWM - 2020 Edition): </a:t>
            </a:r>
            <a:r>
              <a:rPr sz="900">
                <a:solidFill>
                  <a:srgbClr val="1E293B"/>
                </a:solidFill>
              </a:rPr>
              <a:t>Directorate of Civil Engineering, Railway Board: Statutory track inspection intervals, defect classification, and safety buffer rules: https://indianrailways.gov.in/railwayboard/uploads/directorate/civil_engg/IRPWM_2020.pdf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Indian Railways AC Traction Manual (ACTM - Vol II): </a:t>
            </a:r>
            <a:r>
              <a:rPr sz="900">
                <a:solidFill>
                  <a:srgbClr val="1E293B"/>
                </a:solidFill>
              </a:rPr>
              <a:t>Guidelines for OHE Maintenance Blocks, Power Isolation Protocols &amp; Tower Wagon Disconnection Memos: https://indianrailways.gov.in/railwayboard/uploads/directorate/elect_engg/ACTM.htm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Indian Railways Signal Engineering Manual (IRSEM): </a:t>
            </a:r>
            <a:r>
              <a:rPr sz="900">
                <a:solidFill>
                  <a:srgbClr val="1E293B"/>
                </a:solidFill>
              </a:rPr>
              <a:t>Protocols for point machines, track circuit testing, and S&amp;T disconnection notices.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5AA0"/>
                </a:solidFill>
              </a:rPr>
              <a:t>• Centre for Railway Information Systems (CRIS) Enterprise Architecture: </a:t>
            </a:r>
            <a:r>
              <a:rPr sz="900">
                <a:solidFill>
                  <a:srgbClr val="1E293B"/>
                </a:solidFill>
              </a:rPr>
              <a:t>System integration guidelines for Control Office Application (COA) &amp; Freight Operations Information System (FOIS): https://cris.org.in/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